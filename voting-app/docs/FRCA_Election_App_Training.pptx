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3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FRCA Election App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Guide for Consistory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Bearer Elections for Free Reformed Churches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33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the Election App?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rgbClr val="1A3353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4173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&amp; Local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19072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one laptop over church WiFi. No internet needed.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31720"/>
            <a:ext cx="457200" cy="457200"/>
          </a:xfrm>
          <a:prstGeom prst="ellipse">
            <a:avLst/>
          </a:prstGeom>
          <a:solidFill>
            <a:srgbClr val="1A3353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28600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Voting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587752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Brothers vote on their own phones using unique one-time codes.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1A3353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+ Digital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456432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ballots counted alongside digital votes.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A3353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02336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Compliant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325112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2, 6, 7 &amp; 11 thresholds calculated automatically.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33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1920240" cy="29260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1645920"/>
            <a:ext cx="640080" cy="64008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292608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election,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offices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77440" y="24688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843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651760" y="1371600"/>
            <a:ext cx="1920240" cy="29260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645920"/>
            <a:ext cx="640080" cy="64008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2" name="Text 10"/>
          <p:cNvSpPr/>
          <p:nvPr/>
        </p:nvSpPr>
        <p:spPr>
          <a:xfrm>
            <a:off x="329184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651760" y="24688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88920" y="292608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&amp; print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voting code slips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843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846320" y="1371600"/>
            <a:ext cx="1920240" cy="29260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0" y="1645920"/>
            <a:ext cx="640080" cy="64008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846320" y="24688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983480" y="292608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Brothers enter code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phone &amp; select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66560" y="24688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843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040880" y="1371600"/>
            <a:ext cx="1920240" cy="29260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80960" y="1645920"/>
            <a:ext cx="640080" cy="64008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040880" y="24688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178040" y="292608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voting, add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ballots,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results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33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1: First-Time Setup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admin panel and complete the
setup wizard:
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Congregation name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WiFi network name (SSID)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New admin password
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only needs to be done once.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188720"/>
            <a:ext cx="384048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33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2: Create an Election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36576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41148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46320" y="137160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dashboard, click “+ New Election”.
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Enter: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Election name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Maximum rounds (typically 2–3)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Election date
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33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3: Add Offices &amp; Candidates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office (Elder, Deacon):
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Set the number of vacancies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Add candidates by typing names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Click “Add Office”
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2: </a:t>
            </a:r>
            <a:pPr indent="0" marL="0">
              <a:buNone/>
            </a:pPr>
            <a:r>
              <a:rPr lang="en-US" sz="13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slate must be exactly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twice the vacancies. The app enforces this.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188720"/>
            <a:ext cx="384048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33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4: Generate &amp; Print Codes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36576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457200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120640" y="1371600"/>
            <a:ext cx="35661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enough codes for all brothers
plus some spares.
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download and print:
</a:t>
            </a:r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Code Slips PDF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individual
   slips with QR codes for each brother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Paper Ballot PDF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for brothers
   who prefer to vote on paper
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code can only be used once.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33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Gets Printed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Slips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brother receives one slip with a unique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6-character code and QR code.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3749040" cy="2743200"/>
          </a:xfrm>
          <a:prstGeom prst="roundRect">
            <a:avLst>
              <a:gd name="adj" fmla="val 2667"/>
            </a:avLst>
          </a:prstGeom>
          <a:solidFill>
            <a:srgbClr val="F5F6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240280"/>
            <a:ext cx="3566160" cy="2560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0" y="1280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Ballots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572000" y="16002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brothers who prefer paper.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Counted alongside digital votes.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2148840"/>
            <a:ext cx="3749040" cy="2743200"/>
          </a:xfrm>
          <a:prstGeom prst="roundRect">
            <a:avLst>
              <a:gd name="adj" fmla="val 2667"/>
            </a:avLst>
          </a:prstGeom>
          <a:solidFill>
            <a:srgbClr val="F5F6FA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2240280"/>
            <a:ext cx="356616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33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Election Day: How Brothers Vote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188720"/>
            <a:ext cx="2011680" cy="3108960"/>
          </a:xfrm>
          <a:prstGeom prst="roundRect">
            <a:avLst>
              <a:gd name="adj" fmla="val 6818"/>
            </a:avLst>
          </a:prstGeom>
          <a:solidFill>
            <a:srgbClr val="2A4A6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280160"/>
            <a:ext cx="1828800" cy="2926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389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Enter Code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663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6-character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from their slip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703320" y="1188720"/>
            <a:ext cx="2011680" cy="3108960"/>
          </a:xfrm>
          <a:prstGeom prst="roundRect">
            <a:avLst>
              <a:gd name="adj" fmla="val 6818"/>
            </a:avLst>
          </a:prstGeom>
          <a:solidFill>
            <a:srgbClr val="2A4A6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94760" y="1280160"/>
            <a:ext cx="1828800" cy="2926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383280" y="4389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Cast Vote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383280" y="4663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candidates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office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629400" y="1188720"/>
            <a:ext cx="2011680" cy="3108960"/>
          </a:xfrm>
          <a:prstGeom prst="roundRect">
            <a:avLst>
              <a:gd name="adj" fmla="val 6818"/>
            </a:avLst>
          </a:prstGeom>
          <a:solidFill>
            <a:srgbClr val="2A4A6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20840" y="1280160"/>
            <a:ext cx="1828800" cy="2926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09360" y="4389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Confirmed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309360" y="4663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submitted.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is burned.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33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Monitoring &amp; 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36576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54864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760720" y="1280160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closing voting:
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Enter paper ballot counts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Enter postal votes (if any)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Set brothers present count
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automatically calculates
Article 6 thresholds:
</a:t>
            </a:r>
            <a:pPr indent="0" marL="0">
              <a:buNone/>
            </a:pPr>
            <a:r>
              <a:rPr lang="en-US" sz="13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6a: </a:t>
            </a:r>
            <a:pPr indent="0" marL="0">
              <a:buNone/>
            </a:pPr>
            <a:r>
              <a:rPr lang="en-US" sz="13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votes &gt; total / vacancies / 2
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6b: </a:t>
            </a:r>
            <a:pPr indent="0" marL="0">
              <a:buNone/>
            </a:pPr>
            <a:r>
              <a:rPr lang="en-US" sz="13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votes ≥ participants × 2/5
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conditions must be met.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33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Projector Display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results shown to the congregation when enabled by admin.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3474720"/>
          </a:xfrm>
          <a:prstGeom prst="roundRect">
            <a:avLst>
              <a:gd name="adj" fmla="val 2632"/>
            </a:avLst>
          </a:prstGeom>
          <a:solidFill>
            <a:srgbClr val="2A4A6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786384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33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&amp; Fallback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54864" cy="685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by Design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691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link between codes and votes in the database. Even with full access, votes cannot be traced.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240280"/>
            <a:ext cx="54864" cy="685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2402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Is Always the Backup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560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goes wrong, switch to paper ballots immediately. Paper and digital votes are counted together.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54864" cy="685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108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Stays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3429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runs entirely on church WiFi. Nothing is sent to the internet.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977640"/>
            <a:ext cx="54864" cy="685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977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Auditable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4297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can be inspected by the consistory at any time. The source code is open.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33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657600" y="2560320"/>
            <a:ext cx="18288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92608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Admin Guide, Setup Instructions, and
Failsafe Procedures are included with the app.
</a:t>
            </a:r>
            <a:pPr algn="ctr" indent="0" marL="0">
              <a:buNone/>
            </a:pPr>
            <a:r>
              <a:rPr lang="en-US" sz="14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dry-run election before election day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UAT Script.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FRCA Election App — Training Guide</dc:title>
  <dc:subject>PptxGenJS Presentation</dc:subject>
  <dc:creator>FRCA Election App</dc:creator>
  <cp:lastModifiedBy>FRCA Election App</cp:lastModifiedBy>
  <cp:revision>1</cp:revision>
  <dcterms:created xsi:type="dcterms:W3CDTF">2026-04-21T07:08:22Z</dcterms:created>
  <dcterms:modified xsi:type="dcterms:W3CDTF">2026-04-21T07:08:22Z</dcterms:modified>
</cp:coreProperties>
</file>